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69" r:id="rId2"/>
    <p:sldId id="258" r:id="rId3"/>
    <p:sldId id="261" r:id="rId4"/>
    <p:sldId id="264" r:id="rId5"/>
    <p:sldId id="265" r:id="rId6"/>
    <p:sldId id="262" r:id="rId7"/>
    <p:sldId id="266" r:id="rId8"/>
    <p:sldId id="259" r:id="rId9"/>
    <p:sldId id="267" r:id="rId10"/>
    <p:sldId id="281" r:id="rId11"/>
    <p:sldId id="276" r:id="rId12"/>
    <p:sldId id="277" r:id="rId13"/>
    <p:sldId id="278" r:id="rId14"/>
    <p:sldId id="279" r:id="rId15"/>
    <p:sldId id="280" r:id="rId16"/>
    <p:sldId id="274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82"/>
  </p:normalViewPr>
  <p:slideViewPr>
    <p:cSldViewPr snapToGrid="0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73AD2-0C0A-C045-866B-37F0DD340360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51520-203E-814E-9449-2BCC2EBA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2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F00A-1AED-1131-1ED8-1ED92DC7E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C5C96-2B5D-5F97-A9C2-C195EE564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69BA1-3F2E-A46A-F512-54D1A2B7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10E0-F24F-0C42-9194-D22CA62FEA60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EC1C8-D6C5-F569-076E-5C17A3BA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E66B9-3EAA-BF77-8186-84E7789A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21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90A5-A778-B704-20EA-C59F2555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854B-2427-B4B4-21DF-AFDED846F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63DD4-8A34-699B-3C19-1B13C8BA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90EA-5C01-424D-B8B2-CDA5BC33A34A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4E91-A6D6-D993-D62F-F89F7DA2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A3B87-D047-38EC-0D38-003F3714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BE66-8FA7-3C38-199C-EA80017D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08E15-2D58-C66E-70C5-E5994DD2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AA766-7892-98C4-70FE-377D4373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1FCC9-B1CA-6443-9362-D3EAC755ECE7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B290A-6199-E3DE-F6AA-469FCD69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7D9D-6AF1-35B0-2E24-DBFACA68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3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14B6-F645-FCE8-C99B-122B5989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85DB-EF2F-849D-7E6C-10527F718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79916-B803-CE2F-92D6-44AABB5D7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2C650-F4B4-2E43-BA3D-7BA24716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6E98-75DE-7145-AD5D-1F152A13AFA9}" type="datetime1">
              <a:rPr lang="en-CA" smtClean="0"/>
              <a:t>2026-10-26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121C1-127A-50E9-AFB8-B7D44A94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73D8A-C5B0-12EA-A04B-939CCD69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2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59AB-76D2-DC46-1B8F-A9E3291A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2075C-3C87-75EE-47C4-97B75F64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1971C-222E-BE38-2266-ACE705B45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96E8C-2CDE-67DD-828A-AF9F4A988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45F64-0E95-5F00-0857-C00F9F921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F3F31-742B-BAC5-0F7C-3C872458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5D188-025A-CE48-AEFB-540D60337048}" type="datetime1">
              <a:rPr lang="en-CA" smtClean="0"/>
              <a:t>2026-10-26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BCF08-8AA0-AFFC-EE5D-5D49B151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F7AFF-81FD-A419-02B7-23F698D4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CDB0-C4FC-5E3A-413C-492D3D46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25A2E-EC62-ACE1-8F91-CE7E8063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FCD7-9CC5-C444-9567-AF5C431771A6}" type="datetime1">
              <a:rPr lang="en-CA" smtClean="0"/>
              <a:t>2026-10-26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F322F-8191-B520-335B-BCD97E1B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E77AE-7A19-E305-3562-5E4D5FF4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8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95D13-0D63-6DCC-9E0C-30CAEEE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ECCA-D566-844C-A106-CE204E58F9A4}" type="datetime1">
              <a:rPr lang="en-CA" smtClean="0"/>
              <a:t>2026-10-26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D5C05-C9E1-78A1-7567-CF0592C6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26DE1-6A77-A582-C496-472A744B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5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059D-F00A-BBD6-DA07-1FD17645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150A5-AC64-4084-9F39-A1484870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41C83-9369-EFB0-DF7E-15B83F07B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4D5A2-77B1-9194-2F22-E2CEC7B7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F3AF-FDF9-284C-88EF-4D59C2EB02D1}" type="datetime1">
              <a:rPr lang="en-CA" smtClean="0"/>
              <a:t>2026-10-26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F6D3-732A-664A-2B06-C1E1A966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7C43-B27F-B93C-92C2-7A17D37A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2E36-0C17-C03D-1D01-CB9D12319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5D5BB-D4B6-961B-57B0-CAC6AEDD8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CD6A7-244A-1185-3DE9-507A5430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244F4-0413-1C4E-C5A2-D4441E848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6964-73F5-7544-BBB8-23C3C64AC6BA}" type="datetime1">
              <a:rPr lang="en-CA" smtClean="0"/>
              <a:t>2026-10-26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28544-6B5E-EB20-F510-562A1EF1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EC382-71F0-94AE-9B26-FEF42964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7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26D2-DF7D-73B6-EDEC-11A8A0C0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6D8FB-A529-98C6-BE08-841E06F97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4615-B8B9-CEA0-DE0D-9401BFD6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A440-4812-CF42-8824-B25404C09A5E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D76B-8CAD-1FA6-7D57-2C439F00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06FEE-9831-DA63-4E48-CAC7D40C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3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5D487-39FF-0294-624E-E3E8EB3BB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D1212-59E9-9590-9BCA-D0ABAEC01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A5344-45E3-3F5A-0F5E-C3D7B9F2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9D6EA-21B9-2E4D-86A0-2044ABBD4CE6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738F-245A-56C5-EA72-803E8D09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6CF87-5B06-8A13-4930-076FB630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7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0EBB4-6D19-CF93-6346-BEEF5B4A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857F6-DD80-B3EB-2AB8-EB8A50DED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A4F5-0598-DD16-410D-D2450769E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6C25E-58DE-0542-992A-57B4A75B4B9D}" type="datetime1">
              <a:rPr lang="en-CA" smtClean="0"/>
              <a:t>2026-10-26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FBAB8-9F3C-1F0C-2B54-167A6B805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A81C6-F186-D4AA-E7DE-3F5FEC65D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2CDD2-9506-9C45-B074-A9114C3E4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2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.tudelft.nl/ws/portalfiles/portal/47006493/file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20A41-693C-63E1-2D0D-AB300D88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9" r="119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F51B-C898-1998-D3C0-841CC9BCAC2F}"/>
              </a:ext>
            </a:extLst>
          </p:cNvPr>
          <p:cNvSpPr txBox="1"/>
          <p:nvPr/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marL="0" marR="0" inden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sz="5200" b="1" i="0">
                <a:effectLst/>
                <a:latin typeface="+mj-lt"/>
                <a:ea typeface="+mj-ea"/>
                <a:cs typeface="+mj-cs"/>
              </a:rPr>
              <a:t>EmberWorks — Wildfire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6A88-C527-7A70-02A2-DE82B330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E42CDD2-9506-9C45-B074-A9114C3E4A3F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530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E28811-6792-6E0F-299A-C813566AE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r="27523"/>
          <a:stretch>
            <a:fillRect/>
          </a:stretch>
        </p:blipFill>
        <p:spPr>
          <a:xfrm>
            <a:off x="1283624" y="962999"/>
            <a:ext cx="4562994" cy="4932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62B0F-5EE9-53D4-041D-C5D27DEC1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668" y="958324"/>
            <a:ext cx="4153708" cy="493667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F90FB0-9744-113B-4F15-CA60ED2E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8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9235-7682-3925-803D-D6D89F06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9D3DE-C577-0394-5DC7-98E4F8F79493}"/>
              </a:ext>
            </a:extLst>
          </p:cNvPr>
          <p:cNvSpPr txBox="1"/>
          <p:nvPr/>
        </p:nvSpPr>
        <p:spPr>
          <a:xfrm>
            <a:off x="1996440" y="1054638"/>
            <a:ext cx="819912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What is AMDAR ?</a:t>
            </a:r>
          </a:p>
          <a:p>
            <a:pPr>
              <a:lnSpc>
                <a:spcPct val="150000"/>
              </a:lnSpc>
            </a:pPr>
            <a:r>
              <a:rPr lang="en-CA" sz="1600" dirty="0"/>
              <a:t>The global </a:t>
            </a:r>
            <a:r>
              <a:rPr lang="en-CA" sz="1600" b="1" dirty="0"/>
              <a:t>A</a:t>
            </a:r>
            <a:r>
              <a:rPr lang="en-CA" sz="1600" dirty="0"/>
              <a:t>ircraft </a:t>
            </a:r>
            <a:r>
              <a:rPr lang="en-CA" sz="1600" b="1" dirty="0"/>
              <a:t>M</a:t>
            </a:r>
            <a:r>
              <a:rPr lang="en-CA" sz="1600" dirty="0"/>
              <a:t>eteorological </a:t>
            </a:r>
            <a:r>
              <a:rPr lang="en-CA" sz="1600" b="1" dirty="0"/>
              <a:t>D</a:t>
            </a:r>
            <a:r>
              <a:rPr lang="en-CA" sz="1600" dirty="0"/>
              <a:t>ata </a:t>
            </a:r>
            <a:r>
              <a:rPr lang="en-CA" sz="1600" b="1" dirty="0"/>
              <a:t>R</a:t>
            </a:r>
            <a:r>
              <a:rPr lang="en-CA" sz="1600" dirty="0"/>
              <a:t>elay (AMDAR) </a:t>
            </a:r>
            <a:endParaRPr lang="en-CA" sz="1600" b="1" dirty="0"/>
          </a:p>
          <a:p>
            <a:pPr>
              <a:lnSpc>
                <a:spcPct val="150000"/>
              </a:lnSpc>
            </a:pPr>
            <a:endParaRPr lang="en-CA" b="1" dirty="0"/>
          </a:p>
          <a:p>
            <a:pPr>
              <a:lnSpc>
                <a:spcPct val="150000"/>
              </a:lnSpc>
            </a:pPr>
            <a:r>
              <a:rPr lang="en-CA" b="1" dirty="0"/>
              <a:t>How AMDAR Works 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C1D0C8-FF6F-1E56-1602-47C78D5F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40" y="3215640"/>
            <a:ext cx="4231640" cy="2374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864DBA-F67E-B0FB-3C16-EAEFF4100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927" y="3217051"/>
            <a:ext cx="4231640" cy="2372951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97FEF6F-B38D-DA23-6A4F-FDB338A5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18F99-DA22-199C-ABE1-3621954E8D18}"/>
              </a:ext>
            </a:extLst>
          </p:cNvPr>
          <p:cNvSpPr txBox="1"/>
          <p:nvPr/>
        </p:nvSpPr>
        <p:spPr>
          <a:xfrm>
            <a:off x="1996440" y="605739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i="1" dirty="0">
                <a:latin typeface="Palatino" pitchFamily="2" charset="77"/>
                <a:ea typeface="Palatino" pitchFamily="2" charset="77"/>
              </a:rPr>
              <a:t>proven for airliners, never done over a fire.</a:t>
            </a:r>
            <a:endParaRPr lang="en-US" sz="1600" i="1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746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4417-0EC2-4675-43A3-14093349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23A573-6790-832D-A06A-32586AC0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40" y="1886077"/>
            <a:ext cx="6096000" cy="1152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6F27DF-9A09-ABA7-83B5-72BA1AF86F70}"/>
              </a:ext>
            </a:extLst>
          </p:cNvPr>
          <p:cNvSpPr txBox="1"/>
          <p:nvPr/>
        </p:nvSpPr>
        <p:spPr>
          <a:xfrm>
            <a:off x="1996440" y="61907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ninjastorm.firelab.org</a:t>
            </a:r>
            <a:r>
              <a:rPr lang="en-US" sz="1400" dirty="0"/>
              <a:t>/</a:t>
            </a:r>
            <a:r>
              <a:rPr lang="en-US" sz="1400" dirty="0" err="1"/>
              <a:t>windninja</a:t>
            </a:r>
            <a:r>
              <a:rPr lang="en-US" sz="1400" dirty="0"/>
              <a:t>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5A2B4F-A07D-992C-7D77-E7BCE44C1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40" y="3401924"/>
            <a:ext cx="7772400" cy="1625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4D46BC-50ED-FCBD-5BE0-BD15FE5887E1}"/>
              </a:ext>
            </a:extLst>
          </p:cNvPr>
          <p:cNvSpPr txBox="1"/>
          <p:nvPr/>
        </p:nvSpPr>
        <p:spPr>
          <a:xfrm>
            <a:off x="1996440" y="1054638"/>
            <a:ext cx="819912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2. Aircraft Wind Map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9097F-B90A-D68A-E9B0-B6CB1B13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3B8E69-E418-2FC6-5D12-AF94653E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015"/>
          <a:stretch>
            <a:fillRect/>
          </a:stretch>
        </p:blipFill>
        <p:spPr>
          <a:xfrm>
            <a:off x="2090420" y="3955411"/>
            <a:ext cx="7772400" cy="21242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293A35-EEEF-2E2A-9232-8C4D98685B51}"/>
              </a:ext>
            </a:extLst>
          </p:cNvPr>
          <p:cNvSpPr txBox="1"/>
          <p:nvPr/>
        </p:nvSpPr>
        <p:spPr>
          <a:xfrm>
            <a:off x="2278380" y="6185011"/>
            <a:ext cx="758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https://pure.tudelft.nl/ws/portalfiles/portal/47006493/file.pdf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github.com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junzis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meteo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-particle-model</a:t>
            </a:r>
          </a:p>
        </p:txBody>
      </p:sp>
      <p:pic>
        <p:nvPicPr>
          <p:cNvPr id="11" name="Picture 10" descr="simulation">
            <a:extLst>
              <a:ext uri="{FF2B5EF4-FFF2-40B4-BE49-F238E27FC236}">
                <a16:creationId xmlns:a16="http://schemas.microsoft.com/office/drawing/2014/main" id="{F7047505-2B76-4A6B-608C-5164F83B1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559" y="1725812"/>
            <a:ext cx="6372882" cy="2124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6B5EC6-71EA-BFB4-BEF9-FB12F7A78F3B}"/>
              </a:ext>
            </a:extLst>
          </p:cNvPr>
          <p:cNvSpPr txBox="1"/>
          <p:nvPr/>
        </p:nvSpPr>
        <p:spPr>
          <a:xfrm>
            <a:off x="1996440" y="1054638"/>
            <a:ext cx="819912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Wind field constructed from </a:t>
            </a:r>
            <a:r>
              <a:rPr lang="en-CA" b="1" dirty="0" err="1"/>
              <a:t>Meteo</a:t>
            </a:r>
            <a:r>
              <a:rPr lang="en-CA" b="1" dirty="0"/>
              <a:t>-Particle / airplanes.</a:t>
            </a:r>
            <a:endParaRPr lang="en-US" b="1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CE00CE6-055E-DA99-72CA-AC2AFBC4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0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9485F-DABD-66CB-D4D6-735246FB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B0CAE-D0B5-6D0A-C735-B984231AD821}"/>
              </a:ext>
            </a:extLst>
          </p:cNvPr>
          <p:cNvSpPr txBox="1"/>
          <p:nvPr/>
        </p:nvSpPr>
        <p:spPr>
          <a:xfrm>
            <a:off x="1996440" y="1834555"/>
            <a:ext cx="819912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CA" dirty="0"/>
              <a:t>Suppression capacity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potential capability of the resources/system.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Suppression strategy/scenario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where/when you deploy them.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Optimal suppression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the deployment that minimizes the objective, e.g. burned cells before (H).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F62EE0-79CF-0633-4795-91D13E0FEC2E}"/>
              </a:ext>
            </a:extLst>
          </p:cNvPr>
          <p:cNvSpPr txBox="1"/>
          <p:nvPr/>
        </p:nvSpPr>
        <p:spPr>
          <a:xfrm>
            <a:off x="1996440" y="1054638"/>
            <a:ext cx="819912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3. Suppression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7C8DE-F200-1877-6D92-BA1BDD86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38648-8D1D-6267-024F-1BBB6961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A3A19E-BC5D-78C1-BA19-B9D69EDC53E9}"/>
              </a:ext>
            </a:extLst>
          </p:cNvPr>
          <p:cNvSpPr txBox="1"/>
          <p:nvPr/>
        </p:nvSpPr>
        <p:spPr>
          <a:xfrm>
            <a:off x="1996440" y="1054638"/>
            <a:ext cx="819912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What does suppression data do?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281CFD-3F13-E866-CF0F-FE9BA445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63"/>
          <a:stretch>
            <a:fillRect/>
          </a:stretch>
        </p:blipFill>
        <p:spPr>
          <a:xfrm>
            <a:off x="1996440" y="1998223"/>
            <a:ext cx="4673600" cy="239631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D7880-51EC-73AB-7CA1-F94A061E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1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F280A-D905-0CE5-94F5-24819837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97C348-0C40-587E-9D49-6FFBB1FFE54A}"/>
              </a:ext>
            </a:extLst>
          </p:cNvPr>
          <p:cNvSpPr txBox="1"/>
          <p:nvPr/>
        </p:nvSpPr>
        <p:spPr>
          <a:xfrm>
            <a:off x="1544320" y="881673"/>
            <a:ext cx="6096000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b="1" dirty="0"/>
              <a:t>Predict the retardant footprint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b="1" dirty="0"/>
              <a:t>Find better drop locations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b="1" dirty="0"/>
              <a:t>Detect risky drop conditions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b="1" dirty="0"/>
              <a:t>Evaluate the drop afterward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F6EF0-3682-9919-889F-268398ED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580" y="3429000"/>
            <a:ext cx="7772400" cy="20987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029F-6424-B1BC-A563-586DBCFD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4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B039-C5CD-A0B8-CA04-4B18E1B5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5348A-73C2-F7BB-B2C2-E0936A316B99}"/>
              </a:ext>
            </a:extLst>
          </p:cNvPr>
          <p:cNvSpPr txBox="1"/>
          <p:nvPr/>
        </p:nvSpPr>
        <p:spPr>
          <a:xfrm>
            <a:off x="1996440" y="1834555"/>
            <a:ext cx="819912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CA" dirty="0"/>
              <a:t>Suppression capacity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potential capability of the resources/system.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Suppression strategy/scenario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where/when you deploy them.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Optimal suppression → 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the deployment that minimizes the objective, e.g. burned cells before.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F6D64-6341-0289-1097-EECDF085B673}"/>
              </a:ext>
            </a:extLst>
          </p:cNvPr>
          <p:cNvSpPr txBox="1"/>
          <p:nvPr/>
        </p:nvSpPr>
        <p:spPr>
          <a:xfrm>
            <a:off x="1996440" y="1054638"/>
            <a:ext cx="819912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/>
              <a:t>3. Suppression strategy advisor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8A24E-D985-6B86-8113-8774CA8C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6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1109A-94DE-D37E-2D43-CEADCAE7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C378E-9C5C-7FD6-92AB-25E2B8EB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2578100"/>
            <a:ext cx="10962409" cy="1665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8A6D3D-5AEA-FE79-2CC1-8D64A3BE90B2}"/>
              </a:ext>
            </a:extLst>
          </p:cNvPr>
          <p:cNvSpPr txBox="1"/>
          <p:nvPr/>
        </p:nvSpPr>
        <p:spPr>
          <a:xfrm>
            <a:off x="1188027" y="8024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Two Questions That Decide Data Quality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6921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8722-F098-C13E-45B1-A38CAB89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353348-572A-42E9-BDEA-74434BD1C8A0}"/>
              </a:ext>
            </a:extLst>
          </p:cNvPr>
          <p:cNvSpPr txBox="1"/>
          <p:nvPr/>
        </p:nvSpPr>
        <p:spPr>
          <a:xfrm>
            <a:off x="1996440" y="1054638"/>
            <a:ext cx="819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What to know about the camera</a:t>
            </a:r>
          </a:p>
          <a:p>
            <a:pPr>
              <a:lnSpc>
                <a:spcPct val="100000"/>
              </a:lnSpc>
            </a:pPr>
            <a:endParaRPr lang="en-CA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E4579-3D20-2D68-8AB8-4AD7F031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71EDA-8C51-1533-80C9-43AD1D311B83}"/>
              </a:ext>
            </a:extLst>
          </p:cNvPr>
          <p:cNvSpPr txBox="1"/>
          <p:nvPr/>
        </p:nvSpPr>
        <p:spPr>
          <a:xfrm>
            <a:off x="1996440" y="1700014"/>
            <a:ext cx="8199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CA" b="1" dirty="0"/>
              <a:t>Pixel pitch and lens focal length:</a:t>
            </a:r>
            <a:r>
              <a:rPr lang="en-CA" dirty="0"/>
              <a:t> together with height, they set pixel size on the ground.</a:t>
            </a:r>
          </a:p>
          <a:p>
            <a:pPr lvl="0"/>
            <a:r>
              <a:rPr lang="en-CA" b="1" dirty="0"/>
              <a:t>Thermal time constant</a:t>
            </a:r>
            <a:r>
              <a:rPr lang="en-CA" dirty="0"/>
              <a:t> (≈ 10 </a:t>
            </a:r>
            <a:r>
              <a:rPr lang="en-CA" dirty="0" err="1"/>
              <a:t>ms</a:t>
            </a:r>
            <a:r>
              <a:rPr lang="en-CA" dirty="0"/>
              <a:t>): how long a pixel takes to respond.</a:t>
            </a:r>
          </a:p>
          <a:p>
            <a:pPr lvl="0"/>
            <a:r>
              <a:rPr lang="en-CA" b="1" dirty="0"/>
              <a:t>Frame rate</a:t>
            </a:r>
            <a:r>
              <a:rPr lang="en-CA" dirty="0"/>
              <a:t> (9–60 Hz)</a:t>
            </a:r>
          </a:p>
          <a:p>
            <a:pPr lvl="0"/>
            <a:r>
              <a:rPr lang="en-CA" b="1" dirty="0"/>
              <a:t>Radiometric output or not:</a:t>
            </a:r>
            <a:r>
              <a:rPr lang="en-CA" dirty="0"/>
              <a:t> real temperatures vs rescaled video.</a:t>
            </a:r>
          </a:p>
          <a:p>
            <a:pPr lvl="0"/>
            <a:r>
              <a:rPr lang="en-CA" b="1" dirty="0"/>
              <a:t>Max measurable temperature</a:t>
            </a:r>
            <a:r>
              <a:rPr lang="en-CA" dirty="0"/>
              <a:t> (low-gain ≈ 500 °C)</a:t>
            </a:r>
          </a:p>
          <a:p>
            <a:pPr lvl="0"/>
            <a:r>
              <a:rPr lang="en-CA" b="1" dirty="0"/>
              <a:t>Saturation:</a:t>
            </a:r>
            <a:r>
              <a:rPr lang="en-CA" dirty="0"/>
              <a:t> when a pixel is hotter than the max temperature, it clips at the ceiling. Flames (800–1,000 °C) usually saturate, so you still know “fire here” but lose its true intensity and FRP.</a:t>
            </a:r>
          </a:p>
        </p:txBody>
      </p:sp>
    </p:spTree>
    <p:extLst>
      <p:ext uri="{BB962C8B-B14F-4D97-AF65-F5344CB8AC3E}">
        <p14:creationId xmlns:p14="http://schemas.microsoft.com/office/powerpoint/2010/main" val="357825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DCD8-60C6-E6FD-6DC7-68E72870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2A9F7-85B1-D6F6-994C-72932EAF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F1133-4008-9F87-64E9-28C66C01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5" y="467912"/>
            <a:ext cx="7772400" cy="588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84F56-725A-5C19-9029-AEC6423EB0C0}"/>
              </a:ext>
            </a:extLst>
          </p:cNvPr>
          <p:cNvSpPr txBox="1"/>
          <p:nvPr/>
        </p:nvSpPr>
        <p:spPr>
          <a:xfrm>
            <a:off x="8064235" y="1426972"/>
            <a:ext cx="3289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For each lens, the best height is the lowest one at which the curve drops below the dashed line: about 580 m for a 9 mm lens and about 1,220 m for a 19 mm lens. A 35 mm lens stays above one pixel across the whole typical range, so a long lens needs a stabilized mount or a slower pass. These figures use the 10 </a:t>
            </a:r>
            <a:r>
              <a:rPr lang="en-CA" dirty="0" err="1"/>
              <a:t>ms</a:t>
            </a:r>
            <a:r>
              <a:rPr lang="en-CA" dirty="0"/>
              <a:t> response; a fully settled pixel takes about three times longer, so real blur can be larger.</a:t>
            </a:r>
          </a:p>
        </p:txBody>
      </p:sp>
    </p:spTree>
    <p:extLst>
      <p:ext uri="{BB962C8B-B14F-4D97-AF65-F5344CB8AC3E}">
        <p14:creationId xmlns:p14="http://schemas.microsoft.com/office/powerpoint/2010/main" val="96707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2061C-16EB-0C8D-6567-0A719F4A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1BDBF-C38D-0163-65D3-E6896DFDA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62" y="699077"/>
            <a:ext cx="9492673" cy="478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2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A966F7-9EBC-9199-26A0-4B282E05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E66BF-A3D3-2505-C213-94F49C5F9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94" y="862331"/>
            <a:ext cx="11262966" cy="1859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8ECB63-1B52-879E-3275-A004FB3B3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4" y="2721726"/>
            <a:ext cx="10929505" cy="2448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319E0A-EB53-1862-05B6-BB368B56D933}"/>
              </a:ext>
            </a:extLst>
          </p:cNvPr>
          <p:cNvSpPr txBox="1"/>
          <p:nvPr/>
        </p:nvSpPr>
        <p:spPr>
          <a:xfrm>
            <a:off x="992332" y="5534004"/>
            <a:ext cx="10361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the fire is so hot that a wrong </a:t>
            </a:r>
            <a:r>
              <a:rPr lang="en-CA" dirty="0" err="1"/>
              <a:t>ε</a:t>
            </a:r>
            <a:r>
              <a:rPr lang="en-CA" dirty="0"/>
              <a:t> barely changes detection. The trouble is the background. A wrong </a:t>
            </a:r>
            <a:r>
              <a:rPr lang="en-CA" dirty="0" err="1"/>
              <a:t>ε</a:t>
            </a:r>
            <a:r>
              <a:rPr lang="en-CA" dirty="0"/>
              <a:t> makes rock and bare ground look hotter or cooler than they are, which sets thresholds wrong and produces false fires.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7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C477F5-ECDB-6D69-B7E4-50E7055B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9D2E0-6045-0BFD-88D8-D952410A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9" y="982518"/>
            <a:ext cx="10536480" cy="394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1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C685-CA76-199D-6449-04BB32C0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2635B8-1479-8E11-951A-DE2E005FCE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b="9639"/>
          <a:stretch>
            <a:fillRect/>
          </a:stretch>
        </p:blipFill>
        <p:spPr>
          <a:xfrm>
            <a:off x="287020" y="1570843"/>
            <a:ext cx="6976225" cy="39241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F215A1-589C-CCFA-3CC7-DF25ED7B6FC8}"/>
              </a:ext>
            </a:extLst>
          </p:cNvPr>
          <p:cNvSpPr txBox="1"/>
          <p:nvPr/>
        </p:nvSpPr>
        <p:spPr>
          <a:xfrm>
            <a:off x="287020" y="618646"/>
            <a:ext cx="819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i="1" dirty="0"/>
              <a:t>Why Non-Fire Surfaces Are Detected as Fire in Airborne LWIR Imagery”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6243C-358B-367E-1B42-4A4F0625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A6790-4C06-8724-BD97-B6FA903A357C}"/>
              </a:ext>
            </a:extLst>
          </p:cNvPr>
          <p:cNvSpPr txBox="1"/>
          <p:nvPr/>
        </p:nvSpPr>
        <p:spPr>
          <a:xfrm>
            <a:off x="7632700" y="1363025"/>
            <a:ext cx="437919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CA" b="1" dirty="0"/>
              <a:t>How to answer them</a:t>
            </a:r>
          </a:p>
          <a:p>
            <a:pPr rtl="0">
              <a:buNone/>
            </a:pPr>
            <a:endParaRPr lang="en-CA" b="1" dirty="0"/>
          </a:p>
          <a:p>
            <a:pPr rtl="0">
              <a:buNone/>
            </a:pPr>
            <a:r>
              <a:rPr lang="en-CA" dirty="0"/>
              <a:t>“I’d treat it as a confidence score, not a delete button, because missing a real spot fire is worse than showing a false one. First, cheap rules: non-burnable mask, sun-and-slope model, distance and wind from the fire. Then use what an orbiting aircraft gives you for free: persistence across passes and multiple view angles. Hot rock doesn’t move and only looks hot from the sun side. Then train a classifier on confirmed negatives from crews. A second band is the hardware fix if the false positives are mostly quartz rock.”</a:t>
            </a:r>
          </a:p>
        </p:txBody>
      </p:sp>
    </p:spTree>
    <p:extLst>
      <p:ext uri="{BB962C8B-B14F-4D97-AF65-F5344CB8AC3E}">
        <p14:creationId xmlns:p14="http://schemas.microsoft.com/office/powerpoint/2010/main" val="872674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FAF4-020B-8D6F-5AA3-82A48FB8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1B844-76D3-5CC0-5C61-1EC0C355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9E14A-7613-B456-AA21-5427FCAD01F7}"/>
              </a:ext>
            </a:extLst>
          </p:cNvPr>
          <p:cNvSpPr txBox="1"/>
          <p:nvPr/>
        </p:nvSpPr>
        <p:spPr>
          <a:xfrm>
            <a:off x="145472" y="335845"/>
            <a:ext cx="1188720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CA" b="1" dirty="0"/>
              <a:t>1. Persistence across passes</a:t>
            </a:r>
            <a:br>
              <a:rPr lang="en-CA" dirty="0"/>
            </a:br>
            <a:r>
              <a:rPr lang="en-CA" dirty="0"/>
              <a:t>The aircraft circles the fire, so it sees the same ground again within minutes.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b="1" dirty="0"/>
              <a:t>Rock</a:t>
            </a:r>
            <a:r>
              <a:rPr lang="en-CA" dirty="0"/>
              <a:t> stays in exactly the same spot, keeps the same shape, and changes brightness only slowly with the sun.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b="1" dirty="0"/>
              <a:t>Fire</a:t>
            </a:r>
            <a:r>
              <a:rPr lang="en-CA" dirty="0"/>
              <a:t> moves, grows and flickers.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So flag any detection that hasn’t changed after several passes.</a:t>
            </a:r>
          </a:p>
          <a:p>
            <a:pPr rtl="0">
              <a:buNone/>
            </a:pPr>
            <a:r>
              <a:rPr lang="en-CA" b="1" dirty="0"/>
              <a:t>2. Viewing angle: unique to an orbiting aircraft</a:t>
            </a:r>
            <a:endParaRPr lang="en-CA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A sun-heated rock face is hot only on the side facing the sun. From the opposite side of the orbit it’s hidden or looks cooler.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Fire glows from every direction.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So compare views from different points in the orbit: a hot spot that only appears from one side is probably rock.</a:t>
            </a:r>
          </a:p>
          <a:p>
            <a:pPr rtl="0">
              <a:buNone/>
            </a:pPr>
            <a:r>
              <a:rPr lang="en-CA" b="1" dirty="0"/>
              <a:t>3. Sun-and-terrain model</a:t>
            </a:r>
            <a:br>
              <a:rPr lang="en-CA" dirty="0"/>
            </a:br>
            <a:r>
              <a:rPr lang="en-CA" dirty="0"/>
              <a:t>Use the DEM plus the sun’s position at flight time to compute how much sun each slope gets.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Sun-facing, steep, bare slopes are where rocks overheat.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Raise the detection threshold there and lower it on shaded slopes.</a:t>
            </a:r>
          </a:p>
          <a:p>
            <a:pPr rtl="0">
              <a:buNone/>
            </a:pPr>
            <a:r>
              <a:rPr lang="en-CA" b="1" dirty="0"/>
              <a:t>4. Fuel and land-cover mask</a:t>
            </a:r>
            <a:br>
              <a:rPr lang="en-CA" dirty="0"/>
            </a:br>
            <a:r>
              <a:rPr lang="en-CA" dirty="0"/>
              <a:t>Rock, scree and bare ground can’t burn. Use LANDFIRE “non-burnable” classes or a land-cover map.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A detection on non-burnable ground gets low confidence.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This won’t hide a real spot fire landing in nearby fuel.</a:t>
            </a:r>
          </a:p>
          <a:p>
            <a:pPr rtl="0">
              <a:buNone/>
            </a:pPr>
            <a:r>
              <a:rPr lang="en-CA" b="1" dirty="0"/>
              <a:t>5. Context: distance and wind</a:t>
            </a:r>
            <a:endParaRPr lang="en-CA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Spot fires land </a:t>
            </a:r>
            <a:r>
              <a:rPr lang="en-CA" b="1" dirty="0"/>
              <a:t>downwind</a:t>
            </a:r>
            <a:r>
              <a:rPr lang="en-CA" dirty="0"/>
              <a:t> of the fire, mostly within short distances.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Detections far away, upwind, or in a row along a ridge are unlikely to be spot fires.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Use wind direction and a spotting-distance model as a prior.</a:t>
            </a:r>
          </a:p>
        </p:txBody>
      </p:sp>
    </p:spTree>
    <p:extLst>
      <p:ext uri="{BB962C8B-B14F-4D97-AF65-F5344CB8AC3E}">
        <p14:creationId xmlns:p14="http://schemas.microsoft.com/office/powerpoint/2010/main" val="3307592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C8EE-E92D-4D84-BBD1-900DA45A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975E8-0B6C-DA49-A519-98761FFC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CDD2-9506-9C45-B074-A9114C3E4A3F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B9D4A-ECE8-ED60-BF9B-CC3FF64447D6}"/>
              </a:ext>
            </a:extLst>
          </p:cNvPr>
          <p:cNvSpPr txBox="1"/>
          <p:nvPr/>
        </p:nvSpPr>
        <p:spPr>
          <a:xfrm>
            <a:off x="155862" y="592282"/>
            <a:ext cx="1153391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CA" b="1" dirty="0"/>
              <a:t>6. Brightness and shape</a:t>
            </a:r>
            <a:endParaRPr lang="en-CA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If the camera is radiometric, use an absolute brightness-temperature threshold. Rock tops out around 340 K; flaming pixels go far above that and often saturate. In the image, rocks stay white and fire turns red.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Shape: a fire front is a connected line with a hot core. Rocks are isolated specks whose pattern follows the geology.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One caution: if the camera uses automatic gain control (colours rescaled per frame), the colours mean nothing. They’d need true radiometric values.</a:t>
            </a:r>
          </a:p>
          <a:p>
            <a:pPr rtl="0">
              <a:buNone/>
            </a:pPr>
            <a:r>
              <a:rPr lang="en-CA" b="1" dirty="0"/>
              <a:t>7. Machine learning classifier</a:t>
            </a:r>
            <a:r>
              <a:rPr lang="en-CA" dirty="0"/>
              <a:t> (your strength)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Train on labelled examples of rock vs fire, using features: brightness temperature, local contrast, slope and aspect, sun angle, land cover, distance to the perimeter, persistence across passes, view angle, time of day.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Air attack officers can confirm or reject detections with one click, and those labels keep improving the model.</a:t>
            </a:r>
          </a:p>
          <a:p>
            <a:pPr rtl="0">
              <a:buNone/>
            </a:pPr>
            <a:r>
              <a:rPr lang="en-CA" b="1" dirty="0"/>
              <a:t>8. Time of day</a:t>
            </a:r>
            <a:endParaRPr lang="en-CA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Night flights remove most of the problem, because rocks cool after sunset at a predictable rate and fire doesn’t.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Late-afternoon flights over south-west slopes are the worst case.</a:t>
            </a:r>
          </a:p>
          <a:p>
            <a:pPr rtl="0">
              <a:buNone/>
            </a:pPr>
            <a:r>
              <a:rPr lang="en-CA" b="1" dirty="0"/>
              <a:t>9. Cross-check with other sources</a:t>
            </a:r>
            <a:endParaRPr lang="en-CA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Satellite hotspots (VIIRS, GOES), or a visible camera if the aircraft carries one (no flame or smoke = suspect).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CA" dirty="0"/>
              <a:t>The air attack officer’s own eyes.</a:t>
            </a:r>
          </a:p>
          <a:p>
            <a:pPr rtl="0">
              <a:buNone/>
            </a:pPr>
            <a:r>
              <a:rPr lang="en-CA" b="1" dirty="0"/>
              <a:t>Hardware fix</a:t>
            </a:r>
          </a:p>
          <a:p>
            <a:pPr rtl="0">
              <a:buNone/>
            </a:pPr>
            <a:r>
              <a:rPr lang="en-CA" b="1" dirty="0"/>
              <a:t>10. Second camera band:</a:t>
            </a:r>
            <a:r>
              <a:rPr lang="en-CA" dirty="0"/>
              <a:t> a filter at about 8–9.5 µm against quartz rock, or SWIR or MWIR to confirm real fire.</a:t>
            </a:r>
          </a:p>
        </p:txBody>
      </p:sp>
    </p:spTree>
    <p:extLst>
      <p:ext uri="{BB962C8B-B14F-4D97-AF65-F5344CB8AC3E}">
        <p14:creationId xmlns:p14="http://schemas.microsoft.com/office/powerpoint/2010/main" val="345772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1130</Words>
  <Application>Microsoft Macintosh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Homayoun Rezaie</dc:creator>
  <cp:lastModifiedBy>Homayoun Rezaie</cp:lastModifiedBy>
  <cp:revision>59</cp:revision>
  <dcterms:created xsi:type="dcterms:W3CDTF">2026-09-12T23:38:01Z</dcterms:created>
  <dcterms:modified xsi:type="dcterms:W3CDTF">2026-10-27T03:33:38Z</dcterms:modified>
</cp:coreProperties>
</file>