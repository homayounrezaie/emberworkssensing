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3648" r:id="rId1"/>
  </p:sldMasterIdLst>
  <p:notesMasterIdLst>
    <p:notesMasterId r:id="rId16"/>
  </p:notesMasterIdLst>
  <p:sldIdLst>
    <p:sldId id="269" r:id="rId2"/>
    <p:sldId id="270" r:id="rId3"/>
    <p:sldId id="272" r:id="rId4"/>
    <p:sldId id="258" r:id="rId5"/>
    <p:sldId id="260" r:id="rId6"/>
    <p:sldId id="261" r:id="rId7"/>
    <p:sldId id="264" r:id="rId8"/>
    <p:sldId id="265" r:id="rId9"/>
    <p:sldId id="262" r:id="rId10"/>
    <p:sldId id="266" r:id="rId11"/>
    <p:sldId id="259" r:id="rId12"/>
    <p:sldId id="267" r:id="rId13"/>
    <p:sldId id="271" r:id="rId14"/>
    <p:sldId id="273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7"/>
    <p:restoredTop sz="94682"/>
  </p:normalViewPr>
  <p:slideViewPr>
    <p:cSldViewPr snapToGrid="0">
      <p:cViewPr varScale="1">
        <p:scale>
          <a:sx n="125" d="100"/>
          <a:sy n="125" d="100"/>
        </p:scale>
        <p:origin x="168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E673AD2-0C0A-C045-866B-37F0DD340360}" type="datetimeFigureOut">
              <a:rPr lang="en-US" smtClean="0"/>
              <a:t>9/21/26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551520-203E-814E-9449-2BCC2EBA68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8269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F00A-1AED-1131-1ED8-1ED92DC7EB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2C5C96-2B5D-5F97-A9C2-C195EE5644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F69BA1-3F2E-A46A-F512-54D1A2B7DB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C410E0-F24F-0C42-9194-D22CA62FEA60}" type="datetime1">
              <a:rPr lang="en-CA" smtClean="0"/>
              <a:t>2026-09-21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FEC1C8-D6C5-F569-076E-5C17A3BA47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1E66B9-3EAA-BF77-8186-84E7789A4B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2CDD2-9506-9C45-B074-A9114C3E4A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5211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0D90A5-A778-B704-20EA-C59F2555F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BD854B-2427-B4B4-21DF-AFDED846F1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363DD4-8A34-699B-3C19-1B13C8BA46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F90EA-5C01-424D-B8B2-CDA5BC33A34A}" type="datetime1">
              <a:rPr lang="en-CA" smtClean="0"/>
              <a:t>2026-09-21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D94E91-A6D6-D993-D62F-F89F7DA2A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0A3B87-D047-38EC-0D38-003F37144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2CDD2-9506-9C45-B074-A9114C3E4A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5546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6BE66-8FA7-3C38-199C-EA80017D59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408E15-2D58-C66E-70C5-E5994DD2C2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AAA766-7892-98C4-70FE-377D4373AE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1FCC9-B1CA-6443-9362-D3EAC755ECE7}" type="datetime1">
              <a:rPr lang="en-CA" smtClean="0"/>
              <a:t>2026-09-21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DB290A-6199-E3DE-F6AA-469FCD6943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5A7D9D-6AF1-35B0-2E24-DBFACA685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2CDD2-9506-9C45-B074-A9114C3E4A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57321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0614B6-F645-FCE8-C99B-122B598976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6F85DB-EF2F-849D-7E6C-10527F718A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F79916-B803-CE2F-92D6-44AABB5D7D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B2C650-F4B4-2E43-BA3D-7BA24716B8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86E98-75DE-7145-AD5D-1F152A13AFA9}" type="datetime1">
              <a:rPr lang="en-CA" smtClean="0"/>
              <a:t>2026-09-21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8121C1-127A-50E9-AFB8-B7D44A94E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C73D8A-C5B0-12EA-A04B-939CCD690E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2CDD2-9506-9C45-B074-A9114C3E4A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0212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9659AB-76D2-DC46-1B8F-A9E3291A47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C2075C-3C87-75EE-47C4-97B75F6457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41971C-222E-BE38-2266-ACE705B450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196E8C-2CDE-67DD-828A-AF9F4A9888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C45F64-0E95-5F00-0857-C00F9F9213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7F3F31-742B-BAC5-0F7C-3C87245861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5D188-025A-CE48-AEFB-540D60337048}" type="datetime1">
              <a:rPr lang="en-CA" smtClean="0"/>
              <a:t>2026-09-21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EABCF08-8AA0-AFFC-EE5D-5D49B151DB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B5F7AFF-81FD-A419-02B7-23F698D45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2CDD2-9506-9C45-B074-A9114C3E4A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75648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8CDB0-C4FC-5E3A-413C-492D3D4650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2B25A2E-EC62-ACE1-8F91-CE7E806312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CAFCD7-9CC5-C444-9567-AF5C431771A6}" type="datetime1">
              <a:rPr lang="en-CA" smtClean="0"/>
              <a:t>2026-09-21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DF322F-8191-B520-335B-BCD97E1B84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97E77AE-7A19-E305-3562-5E4D5FF48E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2CDD2-9506-9C45-B074-A9114C3E4A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02846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A795D13-0D63-6DCC-9E0C-30CAEEEC9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DDECCA-D566-844C-A106-CE204E58F9A4}" type="datetime1">
              <a:rPr lang="en-CA" smtClean="0"/>
              <a:t>2026-09-21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3DD5C05-C9E1-78A1-7567-CF0592C634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926DE1-6A77-A582-C496-472A744B0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2CDD2-9506-9C45-B074-A9114C3E4A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79521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A2059D-F00A-BBD6-DA07-1FD17645D1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0150A5-AC64-4084-9F39-A1484870C2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841C83-9369-EFB0-DF7E-15B83F07B9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F4D5A2-77B1-9194-2F22-E2CEC7B72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BAF3AF-FDF9-284C-88EF-4D59C2EB02D1}" type="datetime1">
              <a:rPr lang="en-CA" smtClean="0"/>
              <a:t>2026-09-21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F1F6D3-732A-664A-2B06-C1E1A966A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A27C43-B27F-B93C-92C2-7A17D37A05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2CDD2-9506-9C45-B074-A9114C3E4A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47644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D52E36-0C17-C03D-1D01-CB9D123196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345D5BB-D4B6-961B-57B0-CAC6AEDD8DB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BCD6A7-244A-1185-3DE9-507A543048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F244F4-0413-1C4E-C5A2-D4441E8488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46964-73F5-7544-BBB8-23C3C64AC6BA}" type="datetime1">
              <a:rPr lang="en-CA" smtClean="0"/>
              <a:t>2026-09-21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A28544-6B5E-EB20-F510-562A1EF14C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2EC382-71F0-94AE-9B26-FEF429647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2CDD2-9506-9C45-B074-A9114C3E4A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6794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E26D2-DF7D-73B6-EDEC-11A8A0C09A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76D8FB-A529-98C6-BE08-841E06F97F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9C4615-B8B9-CEA0-DE0D-9401BFD646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5A440-4812-CF42-8824-B25404C09A5E}" type="datetime1">
              <a:rPr lang="en-CA" smtClean="0"/>
              <a:t>2026-09-21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0DD76B-8CAD-1FA6-7D57-2C439F003A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006FEE-9831-DA63-4E48-CAC7D40C6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2CDD2-9506-9C45-B074-A9114C3E4A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00321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555D487-39FF-0294-624E-E3E8EB3BB5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D9D1212-59E9-9590-9BCA-D0ABAEC012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8A5344-45E3-3F5A-0F5E-C3D7B9F2D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09D6EA-21B9-2E4D-86A0-2044ABBD4CE6}" type="datetime1">
              <a:rPr lang="en-CA" smtClean="0"/>
              <a:t>2026-09-21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FD738F-245A-56C5-EA72-803E8D0975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96CF87-5B06-8A13-4930-076FB6306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2CDD2-9506-9C45-B074-A9114C3E4A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01718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3E0EBB4-6D19-CF93-6346-BEEF5B4A2E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3857F6-DD80-B3EB-2AB8-EB8A50DED1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11A4F5-0598-DD16-410D-D2450769EE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86C25E-58DE-0542-992A-57B4A75B4B9D}" type="datetime1">
              <a:rPr lang="en-CA" smtClean="0"/>
              <a:t>2026-09-21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4FBAB8-9F3C-1F0C-2B54-167A6B8054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7A81C6-F186-D4AA-E7DE-3F5FEC65D8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42CDD2-9506-9C45-B074-A9114C3E4A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1292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pure.tudelft.nl/ws/portalfiles/portal/47006493/file.pdf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gif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ECC07320-C2CA-4E29-8481-9D9E143C77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2720A41-693C-63E1-2D0D-AB300D889FE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109" r="119"/>
          <a:stretch>
            <a:fillRect/>
          </a:stretch>
        </p:blipFill>
        <p:spPr>
          <a:xfrm>
            <a:off x="2522358" y="10"/>
            <a:ext cx="9669642" cy="685799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178FB36B-5BFE-42CA-BC60-1115E0D95E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DF53B19-6E69-CC5F-0155-D9C8305A1186}"/>
              </a:ext>
            </a:extLst>
          </p:cNvPr>
          <p:cNvSpPr txBox="1"/>
          <p:nvPr/>
        </p:nvSpPr>
        <p:spPr>
          <a:xfrm>
            <a:off x="952228" y="743447"/>
            <a:ext cx="3973385" cy="3692028"/>
          </a:xfrm>
          <a:prstGeom prst="rect">
            <a:avLst/>
          </a:prstGeom>
          <a:noFill/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200">
                <a:latin typeface="+mj-lt"/>
                <a:ea typeface="+mj-ea"/>
                <a:cs typeface="+mj-cs"/>
              </a:rPr>
              <a:t>Every Drop Should Make the Next Drop Better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13CF32-7EA7-86AB-688F-E4347D4F0EE2}"/>
              </a:ext>
            </a:extLst>
          </p:cNvPr>
          <p:cNvSpPr txBox="1"/>
          <p:nvPr/>
        </p:nvSpPr>
        <p:spPr>
          <a:xfrm>
            <a:off x="952228" y="5178912"/>
            <a:ext cx="3973385" cy="1298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CA" dirty="0"/>
              <a:t>Homayoun Rezaie</a:t>
            </a:r>
          </a:p>
          <a:p>
            <a:pPr>
              <a:lnSpc>
                <a:spcPct val="150000"/>
              </a:lnSpc>
            </a:pPr>
            <a:endParaRPr lang="en-CA" dirty="0"/>
          </a:p>
          <a:p>
            <a:pPr>
              <a:lnSpc>
                <a:spcPct val="150000"/>
              </a:lnSpc>
            </a:pPr>
            <a:r>
              <a:rPr lang="en-CA" dirty="0"/>
              <a:t>2026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306A88-C527-7A70-02A2-DE82B330E3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2CDD2-9506-9C45-B074-A9114C3E4A3F}" type="slidenum">
              <a:rPr lang="en-US" smtClean="0"/>
              <a:t>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53063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5110340-439B-4E6A-D9FB-B7B5C1C4DFD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rcRect b="9639"/>
          <a:stretch>
            <a:fillRect/>
          </a:stretch>
        </p:blipFill>
        <p:spPr>
          <a:xfrm>
            <a:off x="3525520" y="2001520"/>
            <a:ext cx="7345679" cy="413195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A4280B8-1B80-DC9B-78AA-575C5B182608}"/>
              </a:ext>
            </a:extLst>
          </p:cNvPr>
          <p:cNvSpPr txBox="1"/>
          <p:nvPr/>
        </p:nvSpPr>
        <p:spPr>
          <a:xfrm>
            <a:off x="1996440" y="1054638"/>
            <a:ext cx="8199120" cy="467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/>
              <a:t>Do you see the same false detections in night-time acquisitions?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131FC2-F6F3-AE05-377A-1B062B524D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2CDD2-9506-9C45-B074-A9114C3E4A3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92590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6BFCE0-11EB-7EB9-F5B9-31EE416DC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7E8CEEE-0DE5-8DE8-AEEF-0BBAEC17EA06}"/>
              </a:ext>
            </a:extLst>
          </p:cNvPr>
          <p:cNvSpPr txBox="1"/>
          <p:nvPr/>
        </p:nvSpPr>
        <p:spPr>
          <a:xfrm>
            <a:off x="1996440" y="2782669"/>
            <a:ext cx="81991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b="1" dirty="0"/>
              <a:t>Suggested order:</a:t>
            </a:r>
            <a:r>
              <a:rPr lang="en-CA" dirty="0"/>
              <a:t> title → problem → the loop → scoring → wind (AMDAR, method, Delft proof) → advisor → 90-day plan → value → risks → why me → questions.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DD8B9E-35FE-A300-556F-31B5BF1A0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2CDD2-9506-9C45-B074-A9114C3E4A3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84150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0E28811-6792-6E0F-299A-C813566AEF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20000"/>
                    </a14:imgEffect>
                  </a14:imgLayer>
                </a14:imgProps>
              </a:ext>
            </a:extLst>
          </a:blip>
          <a:srcRect r="27523"/>
          <a:stretch>
            <a:fillRect/>
          </a:stretch>
        </p:blipFill>
        <p:spPr>
          <a:xfrm>
            <a:off x="1283624" y="962999"/>
            <a:ext cx="4562994" cy="493200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5F62B0F-5EE9-53D4-041D-C5D27DEC17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4668" y="958324"/>
            <a:ext cx="4153708" cy="4936675"/>
          </a:xfrm>
          <a:prstGeom prst="rect">
            <a:avLst/>
          </a:prstGeom>
        </p:spPr>
      </p:pic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9AF90FB0-9744-113B-4F15-CA60ED2E34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2CDD2-9506-9C45-B074-A9114C3E4A3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11851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10639-F720-85B7-F308-50F50C07F2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09CC3BC-0CCA-EB44-5718-0965341745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6440" y="2009463"/>
            <a:ext cx="8001000" cy="146128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3D57675-0EA4-41BF-20A3-FE503ED56490}"/>
              </a:ext>
            </a:extLst>
          </p:cNvPr>
          <p:cNvSpPr txBox="1"/>
          <p:nvPr/>
        </p:nvSpPr>
        <p:spPr>
          <a:xfrm>
            <a:off x="1996440" y="1054638"/>
            <a:ext cx="8199120" cy="467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CA" b="1" dirty="0"/>
              <a:t>1. Drop effectiveness scoring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89E3EB-1015-A3D8-9210-56E1C2813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2CDD2-9506-9C45-B074-A9114C3E4A3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62716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99235-7682-3925-803D-D6D89F064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229D3DE-C577-0394-5DC7-98E4F8F79493}"/>
              </a:ext>
            </a:extLst>
          </p:cNvPr>
          <p:cNvSpPr txBox="1"/>
          <p:nvPr/>
        </p:nvSpPr>
        <p:spPr>
          <a:xfrm>
            <a:off x="1996440" y="1054638"/>
            <a:ext cx="8199120" cy="1668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CA" b="1" dirty="0"/>
              <a:t>What is AMDAR ?</a:t>
            </a:r>
          </a:p>
          <a:p>
            <a:pPr>
              <a:lnSpc>
                <a:spcPct val="150000"/>
              </a:lnSpc>
            </a:pPr>
            <a:r>
              <a:rPr lang="en-CA" sz="1600" dirty="0"/>
              <a:t>The global </a:t>
            </a:r>
            <a:r>
              <a:rPr lang="en-CA" sz="1600" b="1" dirty="0"/>
              <a:t>A</a:t>
            </a:r>
            <a:r>
              <a:rPr lang="en-CA" sz="1600" dirty="0"/>
              <a:t>ircraft </a:t>
            </a:r>
            <a:r>
              <a:rPr lang="en-CA" sz="1600" b="1" dirty="0"/>
              <a:t>M</a:t>
            </a:r>
            <a:r>
              <a:rPr lang="en-CA" sz="1600" dirty="0"/>
              <a:t>eteorological </a:t>
            </a:r>
            <a:r>
              <a:rPr lang="en-CA" sz="1600" b="1" dirty="0"/>
              <a:t>D</a:t>
            </a:r>
            <a:r>
              <a:rPr lang="en-CA" sz="1600" dirty="0"/>
              <a:t>ata </a:t>
            </a:r>
            <a:r>
              <a:rPr lang="en-CA" sz="1600" b="1" dirty="0"/>
              <a:t>R</a:t>
            </a:r>
            <a:r>
              <a:rPr lang="en-CA" sz="1600" dirty="0"/>
              <a:t>elay (AMDAR) </a:t>
            </a:r>
            <a:endParaRPr lang="en-CA" sz="1600" b="1" dirty="0"/>
          </a:p>
          <a:p>
            <a:pPr>
              <a:lnSpc>
                <a:spcPct val="150000"/>
              </a:lnSpc>
            </a:pPr>
            <a:endParaRPr lang="en-CA" b="1" dirty="0"/>
          </a:p>
          <a:p>
            <a:pPr>
              <a:lnSpc>
                <a:spcPct val="150000"/>
              </a:lnSpc>
            </a:pPr>
            <a:r>
              <a:rPr lang="en-CA" b="1" dirty="0"/>
              <a:t>How AMDAR Works ?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DC1D0C8-FF6F-1E56-1602-47C78D5FCB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6440" y="3215640"/>
            <a:ext cx="4231640" cy="237436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9864DBA-F67E-B0FB-3C16-EAEFF41002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8927" y="3217051"/>
            <a:ext cx="4231640" cy="2372951"/>
          </a:xfrm>
          <a:prstGeom prst="rect">
            <a:avLst/>
          </a:prstGeom>
        </p:spPr>
      </p:pic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997FEF6F-B38D-DA23-6A4F-FDB338A50B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2CDD2-9506-9C45-B074-A9114C3E4A3F}" type="slidenum">
              <a:rPr lang="en-US" smtClean="0"/>
              <a:t>5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0118F99-DA22-199C-ABE1-3621954E8D18}"/>
              </a:ext>
            </a:extLst>
          </p:cNvPr>
          <p:cNvSpPr txBox="1"/>
          <p:nvPr/>
        </p:nvSpPr>
        <p:spPr>
          <a:xfrm>
            <a:off x="1996440" y="6057390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1600" i="1" dirty="0">
                <a:latin typeface="Palatino" pitchFamily="2" charset="77"/>
                <a:ea typeface="Palatino" pitchFamily="2" charset="77"/>
              </a:rPr>
              <a:t>proven for airliners, never done over a fire.</a:t>
            </a:r>
            <a:endParaRPr lang="en-US" sz="1600" i="1" dirty="0">
              <a:latin typeface="Palatino" pitchFamily="2" charset="77"/>
              <a:ea typeface="Palatin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0774693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F04417-0EC2-4675-43A3-1409334915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123A573-6790-832D-A06A-32586AC0A2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6440" y="1886077"/>
            <a:ext cx="6096000" cy="115229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66F27DF-9A09-ABA7-83B5-72BA1AF86F70}"/>
              </a:ext>
            </a:extLst>
          </p:cNvPr>
          <p:cNvSpPr txBox="1"/>
          <p:nvPr/>
        </p:nvSpPr>
        <p:spPr>
          <a:xfrm>
            <a:off x="1996440" y="6190734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https://</a:t>
            </a:r>
            <a:r>
              <a:rPr lang="en-US" sz="1400" dirty="0" err="1"/>
              <a:t>ninjastorm.firelab.org</a:t>
            </a:r>
            <a:r>
              <a:rPr lang="en-US" sz="1400" dirty="0"/>
              <a:t>/</a:t>
            </a:r>
            <a:r>
              <a:rPr lang="en-US" sz="1400" dirty="0" err="1"/>
              <a:t>windninja</a:t>
            </a:r>
            <a:r>
              <a:rPr lang="en-US" sz="1400" dirty="0"/>
              <a:t>/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45A2B4F-A07D-992C-7D77-E7BCE44C1C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6440" y="3401924"/>
            <a:ext cx="7772400" cy="162530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B4D46BC-50ED-FCBD-5BE0-BD15FE5887E1}"/>
              </a:ext>
            </a:extLst>
          </p:cNvPr>
          <p:cNvSpPr txBox="1"/>
          <p:nvPr/>
        </p:nvSpPr>
        <p:spPr>
          <a:xfrm>
            <a:off x="1996440" y="1054638"/>
            <a:ext cx="8199120" cy="467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CA" b="1" dirty="0"/>
              <a:t>2. Aircraft Wind Map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79097F-B90A-D68A-E9B0-B6CB1B13E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2CDD2-9506-9C45-B074-A9114C3E4A3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7285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03B8E69-E418-2FC6-5D12-AF94653E401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9015"/>
          <a:stretch>
            <a:fillRect/>
          </a:stretch>
        </p:blipFill>
        <p:spPr>
          <a:xfrm>
            <a:off x="2090420" y="3955411"/>
            <a:ext cx="7772400" cy="212429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7293A35-EEEF-2E2A-9232-8C4D98685B51}"/>
              </a:ext>
            </a:extLst>
          </p:cNvPr>
          <p:cNvSpPr txBox="1"/>
          <p:nvPr/>
        </p:nvSpPr>
        <p:spPr>
          <a:xfrm>
            <a:off x="2278380" y="6185011"/>
            <a:ext cx="75844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chemeClr val="bg1">
                    <a:lumMod val="50000"/>
                  </a:schemeClr>
                </a:solidFill>
                <a:hlinkClick r:id="rId3"/>
              </a:rPr>
              <a:t>https://pure.tudelft.nl/ws/portalfiles/portal/47006493/file.pdf</a:t>
            </a:r>
            <a:endParaRPr lang="en-US" sz="1400" dirty="0">
              <a:solidFill>
                <a:schemeClr val="bg1">
                  <a:lumMod val="50000"/>
                </a:schemeClr>
              </a:solidFill>
            </a:endParaRPr>
          </a:p>
          <a:p>
            <a:pPr algn="ctr"/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https://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</a:rPr>
              <a:t>github.com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/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</a:rPr>
              <a:t>junzis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/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</a:rPr>
              <a:t>meteo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-particle-model</a:t>
            </a:r>
          </a:p>
        </p:txBody>
      </p:sp>
      <p:pic>
        <p:nvPicPr>
          <p:cNvPr id="11" name="Picture 10" descr="simulation">
            <a:extLst>
              <a:ext uri="{FF2B5EF4-FFF2-40B4-BE49-F238E27FC236}">
                <a16:creationId xmlns:a16="http://schemas.microsoft.com/office/drawing/2014/main" id="{F7047505-2B76-4A6B-608C-5164F83B1B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9559" y="1725812"/>
            <a:ext cx="6372882" cy="212429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B6B5EC6-71EA-BFB4-BEF9-FB12F7A78F3B}"/>
              </a:ext>
            </a:extLst>
          </p:cNvPr>
          <p:cNvSpPr txBox="1"/>
          <p:nvPr/>
        </p:nvSpPr>
        <p:spPr>
          <a:xfrm>
            <a:off x="1996440" y="1054638"/>
            <a:ext cx="8199120" cy="467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CA" b="1" dirty="0"/>
              <a:t>Wind field constructed from </a:t>
            </a:r>
            <a:r>
              <a:rPr lang="en-CA" b="1" dirty="0" err="1"/>
              <a:t>Meteo</a:t>
            </a:r>
            <a:r>
              <a:rPr lang="en-CA" b="1" dirty="0"/>
              <a:t>-Particle / airplanes.</a:t>
            </a:r>
            <a:endParaRPr lang="en-US" b="1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ACE00CE6-055E-DA99-72CA-AC2AFBC4A2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2CDD2-9506-9C45-B074-A9114C3E4A3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18023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39485F-DABD-66CB-D4D6-735246FB7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4DB0CAE-D0B5-6D0A-C735-B984231AD821}"/>
              </a:ext>
            </a:extLst>
          </p:cNvPr>
          <p:cNvSpPr txBox="1"/>
          <p:nvPr/>
        </p:nvSpPr>
        <p:spPr>
          <a:xfrm>
            <a:off x="1996440" y="1834555"/>
            <a:ext cx="8199120" cy="17143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lnSpc>
                <a:spcPct val="150000"/>
              </a:lnSpc>
            </a:pPr>
            <a:r>
              <a:rPr lang="en-CA" dirty="0"/>
              <a:t>Suppression capacity → </a:t>
            </a:r>
            <a:r>
              <a:rPr lang="en-CA" dirty="0">
                <a:solidFill>
                  <a:schemeClr val="bg1">
                    <a:lumMod val="50000"/>
                  </a:schemeClr>
                </a:solidFill>
              </a:rPr>
              <a:t>potential capability of the resources/system.</a:t>
            </a:r>
          </a:p>
          <a:p>
            <a:pPr lvl="1">
              <a:lnSpc>
                <a:spcPct val="150000"/>
              </a:lnSpc>
            </a:pPr>
            <a:r>
              <a:rPr lang="en-CA" dirty="0"/>
              <a:t>Suppression strategy/scenario → </a:t>
            </a:r>
            <a:r>
              <a:rPr lang="en-CA" dirty="0">
                <a:solidFill>
                  <a:schemeClr val="bg1">
                    <a:lumMod val="50000"/>
                  </a:schemeClr>
                </a:solidFill>
              </a:rPr>
              <a:t>where/when you deploy them.</a:t>
            </a:r>
          </a:p>
          <a:p>
            <a:pPr lvl="1">
              <a:lnSpc>
                <a:spcPct val="150000"/>
              </a:lnSpc>
            </a:pPr>
            <a:r>
              <a:rPr lang="en-CA" dirty="0"/>
              <a:t>Optimal suppression → </a:t>
            </a:r>
            <a:r>
              <a:rPr lang="en-CA" dirty="0">
                <a:solidFill>
                  <a:schemeClr val="bg1">
                    <a:lumMod val="50000"/>
                  </a:schemeClr>
                </a:solidFill>
              </a:rPr>
              <a:t>the deployment that minimizes the objective, e.g. burned cells before (H).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0F62EE0-79CF-0633-4795-91D13E0FEC2E}"/>
              </a:ext>
            </a:extLst>
          </p:cNvPr>
          <p:cNvSpPr txBox="1"/>
          <p:nvPr/>
        </p:nvSpPr>
        <p:spPr>
          <a:xfrm>
            <a:off x="1996440" y="1054638"/>
            <a:ext cx="8199120" cy="467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CA" b="1" dirty="0"/>
              <a:t>3. Suppression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C7C8DE-F200-1877-6D92-BA1BDD867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2CDD2-9506-9C45-B074-A9114C3E4A3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9488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F38648-8D1D-6267-024F-1BBB69615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EA3A19E-BC5D-78C1-BA19-B9D69EDC53E9}"/>
              </a:ext>
            </a:extLst>
          </p:cNvPr>
          <p:cNvSpPr txBox="1"/>
          <p:nvPr/>
        </p:nvSpPr>
        <p:spPr>
          <a:xfrm>
            <a:off x="1996440" y="1054638"/>
            <a:ext cx="8199120" cy="467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CA" b="1" dirty="0"/>
              <a:t>What does suppression data do?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D281CFD-3F13-E866-CF0F-FE9BA445AEE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963"/>
          <a:stretch>
            <a:fillRect/>
          </a:stretch>
        </p:blipFill>
        <p:spPr>
          <a:xfrm>
            <a:off x="1996440" y="1998223"/>
            <a:ext cx="4673600" cy="2396315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BD7880-51EC-73AB-7CA1-F94A061ECF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2CDD2-9506-9C45-B074-A9114C3E4A3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59163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5F280A-D905-0CE5-94F5-248198375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97C348-0C40-587E-9D49-6FFBB1FFE54A}"/>
              </a:ext>
            </a:extLst>
          </p:cNvPr>
          <p:cNvSpPr txBox="1"/>
          <p:nvPr/>
        </p:nvSpPr>
        <p:spPr>
          <a:xfrm>
            <a:off x="1544320" y="881673"/>
            <a:ext cx="6096000" cy="22337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lnSpc>
                <a:spcPct val="200000"/>
              </a:lnSpc>
              <a:buFont typeface="+mj-lt"/>
              <a:buAutoNum type="arabicPeriod"/>
            </a:pPr>
            <a:r>
              <a:rPr lang="en-CA" b="1" dirty="0"/>
              <a:t>Predict the retardant footprint</a:t>
            </a:r>
          </a:p>
          <a:p>
            <a:pPr marL="342900" lvl="0" indent="-342900">
              <a:lnSpc>
                <a:spcPct val="200000"/>
              </a:lnSpc>
              <a:buFont typeface="+mj-lt"/>
              <a:buAutoNum type="arabicPeriod"/>
            </a:pPr>
            <a:r>
              <a:rPr lang="en-CA" b="1" dirty="0"/>
              <a:t>Find better drop locations</a:t>
            </a:r>
          </a:p>
          <a:p>
            <a:pPr marL="342900" lvl="0" indent="-342900">
              <a:lnSpc>
                <a:spcPct val="200000"/>
              </a:lnSpc>
              <a:buFont typeface="+mj-lt"/>
              <a:buAutoNum type="arabicPeriod"/>
            </a:pPr>
            <a:r>
              <a:rPr lang="en-CA" b="1" dirty="0"/>
              <a:t>Detect risky drop conditions</a:t>
            </a:r>
          </a:p>
          <a:p>
            <a:pPr marL="342900" lvl="0" indent="-342900">
              <a:lnSpc>
                <a:spcPct val="200000"/>
              </a:lnSpc>
              <a:buFont typeface="+mj-lt"/>
              <a:buAutoNum type="arabicPeriod"/>
            </a:pPr>
            <a:r>
              <a:rPr lang="en-CA" b="1" dirty="0"/>
              <a:t>Evaluate the drop afterward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A6F6EF0-3682-9919-889F-268398EDC8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8580" y="3429000"/>
            <a:ext cx="7772400" cy="2098778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56029F-6424-B1BC-A563-586DBCFD4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2CDD2-9506-9C45-B074-A9114C3E4A3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02457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3B039-C5CD-A0B8-CA04-4B18E1B58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7E5348A-73C2-F7BB-B2C2-E0936A316B99}"/>
              </a:ext>
            </a:extLst>
          </p:cNvPr>
          <p:cNvSpPr txBox="1"/>
          <p:nvPr/>
        </p:nvSpPr>
        <p:spPr>
          <a:xfrm>
            <a:off x="1996440" y="1834555"/>
            <a:ext cx="8199120" cy="17143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lnSpc>
                <a:spcPct val="150000"/>
              </a:lnSpc>
            </a:pPr>
            <a:r>
              <a:rPr lang="en-CA" dirty="0"/>
              <a:t>Suppression capacity → </a:t>
            </a:r>
            <a:r>
              <a:rPr lang="en-CA" dirty="0">
                <a:solidFill>
                  <a:schemeClr val="bg1">
                    <a:lumMod val="50000"/>
                  </a:schemeClr>
                </a:solidFill>
              </a:rPr>
              <a:t>potential capability of the resources/system.</a:t>
            </a:r>
          </a:p>
          <a:p>
            <a:pPr lvl="1">
              <a:lnSpc>
                <a:spcPct val="150000"/>
              </a:lnSpc>
            </a:pPr>
            <a:r>
              <a:rPr lang="en-CA" dirty="0"/>
              <a:t>Suppression strategy/scenario → </a:t>
            </a:r>
            <a:r>
              <a:rPr lang="en-CA" dirty="0">
                <a:solidFill>
                  <a:schemeClr val="bg1">
                    <a:lumMod val="50000"/>
                  </a:schemeClr>
                </a:solidFill>
              </a:rPr>
              <a:t>where/when you deploy them.</a:t>
            </a:r>
          </a:p>
          <a:p>
            <a:pPr lvl="1">
              <a:lnSpc>
                <a:spcPct val="150000"/>
              </a:lnSpc>
            </a:pPr>
            <a:r>
              <a:rPr lang="en-CA" dirty="0"/>
              <a:t>Optimal suppression → </a:t>
            </a:r>
            <a:r>
              <a:rPr lang="en-CA" dirty="0">
                <a:solidFill>
                  <a:schemeClr val="bg1">
                    <a:lumMod val="50000"/>
                  </a:schemeClr>
                </a:solidFill>
              </a:rPr>
              <a:t>the deployment that minimizes the objective, e.g. burned cells before.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13F6D64-6341-0289-1097-EECDF085B673}"/>
              </a:ext>
            </a:extLst>
          </p:cNvPr>
          <p:cNvSpPr txBox="1"/>
          <p:nvPr/>
        </p:nvSpPr>
        <p:spPr>
          <a:xfrm>
            <a:off x="1996440" y="1054638"/>
            <a:ext cx="8199120" cy="467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CA" b="1" dirty="0"/>
              <a:t>3. Suppression strategy advisor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88A24E-D985-6B86-8113-8774CA8C2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2CDD2-9506-9C45-B074-A9114C3E4A3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21682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4D857-2055-FFA1-02E1-1995ACD2B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7B9273-5FDD-8EA6-8C8C-0A979D0F9508}"/>
              </a:ext>
            </a:extLst>
          </p:cNvPr>
          <p:cNvSpPr txBox="1"/>
          <p:nvPr/>
        </p:nvSpPr>
        <p:spPr>
          <a:xfrm>
            <a:off x="1996440" y="1054638"/>
            <a:ext cx="8199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lang="en-CA" b="1" dirty="0"/>
              <a:t>CFR HALO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C85420-8AE5-B113-377B-AEB3070D4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2CDD2-9506-9C45-B074-A9114C3E4A3F}" type="slidenum">
              <a:rPr lang="en-US" smtClean="0"/>
              <a:t>12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F20419-3D74-57FC-EEF7-D36A89A70CCF}"/>
              </a:ext>
            </a:extLst>
          </p:cNvPr>
          <p:cNvSpPr txBox="1"/>
          <p:nvPr/>
        </p:nvSpPr>
        <p:spPr>
          <a:xfrm>
            <a:off x="1996440" y="1700014"/>
            <a:ext cx="819912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/>
              <a:t>Fewer wasted loads (the money pillar)</a:t>
            </a:r>
          </a:p>
          <a:p>
            <a:endParaRPr lang="en-CA" dirty="0"/>
          </a:p>
          <a:p>
            <a:r>
              <a:rPr lang="en-CA" dirty="0"/>
              <a:t>a 4,000-gallon load is roughly $10,000 in retardant, so if scoring helps avoid even a few ineffective drops per aircraft per season, the system pays for itself.</a:t>
            </a:r>
          </a:p>
          <a:p>
            <a:endParaRPr lang="en-CA" dirty="0"/>
          </a:p>
          <a:p>
            <a:r>
              <a:rPr lang="en-CA" dirty="0"/>
              <a:t>Filed data for evidence:</a:t>
            </a:r>
            <a:br>
              <a:rPr lang="en-CA" dirty="0"/>
            </a:br>
            <a:br>
              <a:rPr lang="en-CA" dirty="0"/>
            </a:br>
            <a:r>
              <a:rPr lang="en-CA" dirty="0"/>
              <a:t>Burn resistance: Hold rate (held, slowed, breached), hold duration, drop in spread rate at the line.</a:t>
            </a:r>
            <a:endParaRPr lang="en-US" dirty="0"/>
          </a:p>
          <a:p>
            <a:br>
              <a:rPr lang="en-US" dirty="0"/>
            </a:br>
            <a:br>
              <a:rPr lang="en-US" dirty="0"/>
            </a:br>
            <a:r>
              <a:rPr lang="en-US" dirty="0"/>
              <a:t>and drop location. </a:t>
            </a:r>
          </a:p>
        </p:txBody>
      </p:sp>
    </p:spTree>
    <p:extLst>
      <p:ext uri="{BB962C8B-B14F-4D97-AF65-F5344CB8AC3E}">
        <p14:creationId xmlns:p14="http://schemas.microsoft.com/office/powerpoint/2010/main" val="29934463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33FAF4-020B-8D6F-5AA3-82A48FB8F7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FADE91-0768-B003-A516-C14C3D4CE2D0}"/>
              </a:ext>
            </a:extLst>
          </p:cNvPr>
          <p:cNvSpPr txBox="1"/>
          <p:nvPr/>
        </p:nvSpPr>
        <p:spPr>
          <a:xfrm>
            <a:off x="1996440" y="1054638"/>
            <a:ext cx="8199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lang="en-CA" b="1" dirty="0"/>
              <a:t>Risks slide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F1B844-76D3-5CC0-5C61-1EC0C355D7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2CDD2-9506-9C45-B074-A9114C3E4A3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75926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</TotalTime>
  <Words>348</Words>
  <Application>Microsoft Macintosh PowerPoint</Application>
  <PresentationFormat>Widescreen</PresentationFormat>
  <Paragraphs>52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Aptos Display</vt:lpstr>
      <vt:lpstr>Arial</vt:lpstr>
      <vt:lpstr>Palatino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Homayoun Rezaie</dc:creator>
  <cp:lastModifiedBy>Homayoun Rezaie</cp:lastModifiedBy>
  <cp:revision>43</cp:revision>
  <dcterms:created xsi:type="dcterms:W3CDTF">2026-09-12T23:38:01Z</dcterms:created>
  <dcterms:modified xsi:type="dcterms:W3CDTF">2026-09-21T06:49:34Z</dcterms:modified>
</cp:coreProperties>
</file>